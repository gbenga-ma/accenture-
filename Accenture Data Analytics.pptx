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59" r:id="rId5"/>
    <p:sldId id="261" r:id="rId6"/>
    <p:sldId id="267" r:id="rId7"/>
    <p:sldId id="263" r:id="rId8"/>
    <p:sldId id="268" r:id="rId9"/>
    <p:sldId id="266" r:id="rId10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0FF"/>
    <a:srgbClr val="883C84"/>
    <a:srgbClr val="461B49"/>
    <a:srgbClr val="963488"/>
    <a:srgbClr val="2831A2"/>
    <a:srgbClr val="2086AA"/>
    <a:srgbClr val="1994B1"/>
    <a:srgbClr val="00B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279" autoAdjust="0"/>
    <p:restoredTop sz="73146" autoAdjust="0"/>
  </p:normalViewPr>
  <p:slideViewPr>
    <p:cSldViewPr>
      <p:cViewPr varScale="1">
        <p:scale>
          <a:sx n="37" d="100"/>
          <a:sy n="37" d="100"/>
        </p:scale>
        <p:origin x="102" y="4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m\Desktop\Accenture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m\Desktop\Accenture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m\Desktop\Accenture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m\Desktop\Accenture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m\Desktop\Accenture%20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'Top 5'!$B$1</c:f>
              <c:strCache>
                <c:ptCount val="1"/>
                <c:pt idx="0">
                  <c:v>Aggregates Score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cat>
            <c:strRef>
              <c:f>'Top 5'!$A$2:$A$6</c:f>
              <c:strCache>
                <c:ptCount val="5"/>
                <c:pt idx="0">
                  <c:v>Animals</c:v>
                </c:pt>
                <c:pt idx="1">
                  <c:v>science</c:v>
                </c:pt>
                <c:pt idx="2">
                  <c:v>healthy eating</c:v>
                </c:pt>
                <c:pt idx="3">
                  <c:v>technology</c:v>
                </c:pt>
                <c:pt idx="4">
                  <c:v>food</c:v>
                </c:pt>
              </c:strCache>
            </c:strRef>
          </c:cat>
          <c:val>
            <c:numRef>
              <c:f>'Top 5'!$B$2:$B$6</c:f>
              <c:numCache>
                <c:formatCode>General</c:formatCode>
                <c:ptCount val="5"/>
                <c:pt idx="0">
                  <c:v>49619</c:v>
                </c:pt>
                <c:pt idx="1">
                  <c:v>57783</c:v>
                </c:pt>
                <c:pt idx="2">
                  <c:v>71168</c:v>
                </c:pt>
                <c:pt idx="3">
                  <c:v>69339</c:v>
                </c:pt>
                <c:pt idx="4">
                  <c:v>68738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33-4152-842A-F2C5DEE519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7756336"/>
        <c:axId val="217758416"/>
      </c:barChart>
      <c:catAx>
        <c:axId val="217756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7758416"/>
        <c:crosses val="autoZero"/>
        <c:auto val="1"/>
        <c:lblAlgn val="ctr"/>
        <c:lblOffset val="100"/>
        <c:noMultiLvlLbl val="0"/>
      </c:catAx>
      <c:valAx>
        <c:axId val="2177584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7756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'Top 5'!$B$1</c:f>
              <c:strCache>
                <c:ptCount val="1"/>
                <c:pt idx="0">
                  <c:v>Aggregates Score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C99D-427D-AD6E-5D281829E08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C99D-427D-AD6E-5D281829E08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C99D-427D-AD6E-5D281829E08D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2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2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C99D-427D-AD6E-5D281829E08D}"/>
              </c:ext>
            </c:extLst>
          </c:dPt>
          <c:dPt>
            <c:idx val="4"/>
            <c:bubble3D val="0"/>
            <c:explosion val="8"/>
            <c:spPr>
              <a:gradFill rotWithShape="1">
                <a:gsLst>
                  <a:gs pos="0">
                    <a:schemeClr val="accent4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4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4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9-C99D-427D-AD6E-5D281829E08D}"/>
              </c:ext>
            </c:extLst>
          </c:dPt>
          <c:dLbls>
            <c:dLbl>
              <c:idx val="0"/>
              <c:layout>
                <c:manualLayout>
                  <c:x val="6.644144144144136E-2"/>
                  <c:y val="5.0697084917617229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99D-427D-AD6E-5D281829E08D}"/>
                </c:ext>
              </c:extLst>
            </c:dLbl>
            <c:dLbl>
              <c:idx val="2"/>
              <c:layout>
                <c:manualLayout>
                  <c:x val="7.7702702702702783E-2"/>
                  <c:y val="-5.069708491761733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99D-427D-AD6E-5D281829E08D}"/>
                </c:ext>
              </c:extLst>
            </c:dLbl>
            <c:dLbl>
              <c:idx val="4"/>
              <c:layout>
                <c:manualLayout>
                  <c:x val="-7.8828828828828856E-2"/>
                  <c:y val="4.1825095057034217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99D-427D-AD6E-5D281829E08D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3200" b="0" i="0" u="none" strike="noStrike" kern="1200" baseline="0">
                    <a:solidFill>
                      <a:srgbClr val="A1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'Top 5'!$A$2:$A$6</c:f>
              <c:strCache>
                <c:ptCount val="5"/>
                <c:pt idx="0">
                  <c:v>Animals</c:v>
                </c:pt>
                <c:pt idx="1">
                  <c:v>science</c:v>
                </c:pt>
                <c:pt idx="2">
                  <c:v>healthy eating</c:v>
                </c:pt>
                <c:pt idx="3">
                  <c:v>technology</c:v>
                </c:pt>
                <c:pt idx="4">
                  <c:v>food</c:v>
                </c:pt>
              </c:strCache>
            </c:strRef>
          </c:cat>
          <c:val>
            <c:numRef>
              <c:f>'Top 5'!$B$2:$B$6</c:f>
              <c:numCache>
                <c:formatCode>General</c:formatCode>
                <c:ptCount val="5"/>
                <c:pt idx="0">
                  <c:v>49619</c:v>
                </c:pt>
                <c:pt idx="1">
                  <c:v>57783</c:v>
                </c:pt>
                <c:pt idx="2">
                  <c:v>71168</c:v>
                </c:pt>
                <c:pt idx="3">
                  <c:v>69339</c:v>
                </c:pt>
                <c:pt idx="4">
                  <c:v>68738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99D-427D-AD6E-5D281829E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46602113924949E-2"/>
          <c:y val="0.95483967146006332"/>
          <c:w val="0.93967147265375617"/>
          <c:h val="4.516032853993667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[Accenture Data.xlsx]Pivot Table!PivotTable10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/>
              <a:t>COUNT</a:t>
            </a:r>
            <a:r>
              <a:rPr lang="en-US" sz="2400" b="1" baseline="0" dirty="0"/>
              <a:t> OF SCORE BY REACTION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A100FF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matte">
              <a:bevelT w="63500" h="63500" prst="artDeco"/>
              <a:contourClr>
                <a:srgbClr val="000000"/>
              </a:contourClr>
            </a:sp3d>
          </c:spPr>
          <c:invertIfNegative val="0"/>
          <c:cat>
            <c:strRef>
              <c:f>'Pivot Table'!$A$4:$A$20</c:f>
              <c:strCache>
                <c:ptCount val="16"/>
                <c:pt idx="0">
                  <c:v>adore</c:v>
                </c:pt>
                <c:pt idx="1">
                  <c:v>cherish</c:v>
                </c:pt>
                <c:pt idx="2">
                  <c:v>disgust</c:v>
                </c:pt>
                <c:pt idx="3">
                  <c:v>dislike</c:v>
                </c:pt>
                <c:pt idx="4">
                  <c:v>hate</c:v>
                </c:pt>
                <c:pt idx="5">
                  <c:v>heart</c:v>
                </c:pt>
                <c:pt idx="6">
                  <c:v>indifferent</c:v>
                </c:pt>
                <c:pt idx="7">
                  <c:v>interested</c:v>
                </c:pt>
                <c:pt idx="8">
                  <c:v>intrigued</c:v>
                </c:pt>
                <c:pt idx="9">
                  <c:v>like</c:v>
                </c:pt>
                <c:pt idx="10">
                  <c:v>love</c:v>
                </c:pt>
                <c:pt idx="11">
                  <c:v>peeking</c:v>
                </c:pt>
                <c:pt idx="12">
                  <c:v>scared</c:v>
                </c:pt>
                <c:pt idx="13">
                  <c:v>super love</c:v>
                </c:pt>
                <c:pt idx="14">
                  <c:v>want</c:v>
                </c:pt>
                <c:pt idx="15">
                  <c:v>worried</c:v>
                </c:pt>
              </c:strCache>
            </c:strRef>
          </c:cat>
          <c:val>
            <c:numRef>
              <c:f>'Pivot Table'!$B$4:$B$20</c:f>
              <c:numCache>
                <c:formatCode>General</c:formatCode>
                <c:ptCount val="16"/>
                <c:pt idx="0">
                  <c:v>1548</c:v>
                </c:pt>
                <c:pt idx="1">
                  <c:v>1501</c:v>
                </c:pt>
                <c:pt idx="2">
                  <c:v>1526</c:v>
                </c:pt>
                <c:pt idx="3">
                  <c:v>1548</c:v>
                </c:pt>
                <c:pt idx="4">
                  <c:v>1552</c:v>
                </c:pt>
                <c:pt idx="5">
                  <c:v>1622</c:v>
                </c:pt>
                <c:pt idx="6">
                  <c:v>1512</c:v>
                </c:pt>
                <c:pt idx="7">
                  <c:v>1549</c:v>
                </c:pt>
                <c:pt idx="8">
                  <c:v>1475</c:v>
                </c:pt>
                <c:pt idx="9">
                  <c:v>1520</c:v>
                </c:pt>
                <c:pt idx="10">
                  <c:v>1534</c:v>
                </c:pt>
                <c:pt idx="11">
                  <c:v>1559</c:v>
                </c:pt>
                <c:pt idx="12">
                  <c:v>1572</c:v>
                </c:pt>
                <c:pt idx="13">
                  <c:v>1519</c:v>
                </c:pt>
                <c:pt idx="14">
                  <c:v>1539</c:v>
                </c:pt>
                <c:pt idx="15">
                  <c:v>1497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59-4463-AE83-E522112E5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1642912"/>
        <c:axId val="220101376"/>
      </c:barChart>
      <c:catAx>
        <c:axId val="416429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0101376"/>
        <c:crosses val="autoZero"/>
        <c:auto val="1"/>
        <c:lblAlgn val="ctr"/>
        <c:lblOffset val="100"/>
        <c:noMultiLvlLbl val="0"/>
      </c:catAx>
      <c:valAx>
        <c:axId val="2201013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4291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[Accenture Data.xlsx]Pivot Table!PivotTable11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3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600" b="1"/>
              <a:t>COUNT</a:t>
            </a:r>
            <a:r>
              <a:rPr lang="en-US" sz="3600" b="1" baseline="0"/>
              <a:t> OF SCORE BY SENTIMENTS</a:t>
            </a:r>
            <a:endParaRPr lang="en-US" sz="36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'Pivot Table'!$F$3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explosion val="2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190-472F-9781-56B17D1BBAE1}"/>
              </c:ext>
            </c:extLst>
          </c:dPt>
          <c:dPt>
            <c:idx val="1"/>
            <c:bubble3D val="0"/>
            <c:explosion val="1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190-472F-9781-56B17D1BBAE1}"/>
              </c:ext>
            </c:extLst>
          </c:dPt>
          <c:dPt>
            <c:idx val="2"/>
            <c:bubble3D val="0"/>
            <c:explosion val="4"/>
            <c:spPr>
              <a:solidFill>
                <a:srgbClr val="A100FF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190-472F-9781-56B17D1BBAE1}"/>
              </c:ext>
            </c:extLst>
          </c:dPt>
          <c:cat>
            <c:strRef>
              <c:f>'Pivot Table'!$E$4:$E$7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'Pivot Table'!$F$4:$F$7</c:f>
              <c:numCache>
                <c:formatCode>General</c:formatCode>
                <c:ptCount val="3"/>
                <c:pt idx="0">
                  <c:v>7695</c:v>
                </c:pt>
                <c:pt idx="1">
                  <c:v>3071</c:v>
                </c:pt>
                <c:pt idx="2">
                  <c:v>13807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190-472F-9781-56B17D1BBA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[Accenture Data.xlsx]Pivot Table!PivotTable12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000" b="1" dirty="0"/>
              <a:t>Sum</a:t>
            </a:r>
            <a:r>
              <a:rPr lang="en-US" sz="4000" b="1" baseline="0" dirty="0"/>
              <a:t> of Score by Content Type</a:t>
            </a:r>
            <a:endParaRPr lang="en-US" sz="40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Table'!$I$3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A100FF"/>
            </a:solidFill>
            <a:ln>
              <a:noFill/>
            </a:ln>
            <a:effectLst/>
          </c:spPr>
          <c:invertIfNegative val="0"/>
          <c:cat>
            <c:strRef>
              <c:f>'Pivot Table'!$H$4:$H$8</c:f>
              <c:strCache>
                <c:ptCount val="4"/>
                <c:pt idx="0">
                  <c:v>audio</c:v>
                </c:pt>
                <c:pt idx="1">
                  <c:v>GIF</c:v>
                </c:pt>
                <c:pt idx="2">
                  <c:v>photo</c:v>
                </c:pt>
                <c:pt idx="3">
                  <c:v>video</c:v>
                </c:pt>
              </c:strCache>
            </c:strRef>
          </c:cat>
          <c:val>
            <c:numRef>
              <c:f>'Pivot Table'!$I$4:$I$8</c:f>
              <c:numCache>
                <c:formatCode>General</c:formatCode>
                <c:ptCount val="4"/>
                <c:pt idx="0">
                  <c:v>226127</c:v>
                </c:pt>
                <c:pt idx="1">
                  <c:v>238217</c:v>
                </c:pt>
                <c:pt idx="2">
                  <c:v>262838</c:v>
                </c:pt>
                <c:pt idx="3">
                  <c:v>246463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B3-461F-9C5F-7E08F72778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7758416"/>
        <c:axId val="217748848"/>
      </c:barChart>
      <c:catAx>
        <c:axId val="21775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7748848"/>
        <c:crosses val="autoZero"/>
        <c:auto val="1"/>
        <c:lblAlgn val="ctr"/>
        <c:lblOffset val="100"/>
        <c:noMultiLvlLbl val="0"/>
      </c:catAx>
      <c:valAx>
        <c:axId val="217748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7758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4730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8854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02-Apr-25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94731" y="0"/>
            <a:ext cx="1893269" cy="10287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3" name="Group 3"/>
          <p:cNvGrpSpPr/>
          <p:nvPr/>
        </p:nvGrpSpPr>
        <p:grpSpPr>
          <a:xfrm>
            <a:off x="6545735" y="406153"/>
            <a:ext cx="10042534" cy="9474693"/>
            <a:chOff x="0" y="0"/>
            <a:chExt cx="13390046" cy="12632924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0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3279405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6558809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0"/>
              <a:ext cx="3005065" cy="2794710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3279405"/>
              <a:ext cx="3005065" cy="2794710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6558809"/>
              <a:ext cx="3005065" cy="2794710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1104900" y="824285"/>
            <a:ext cx="8750843" cy="8318192"/>
            <a:chOff x="0" y="0"/>
            <a:chExt cx="11667791" cy="11090922"/>
          </a:xfrm>
        </p:grpSpPr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1931835" y="1354967"/>
              <a:ext cx="9735956" cy="9735956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AU" dirty="0"/>
              </a:p>
            </p:txBody>
          </p:sp>
        </p:grpSp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96140" y="376277"/>
              <a:ext cx="9735956" cy="9756713"/>
            </a:xfrm>
            <a:prstGeom prst="rect">
              <a:avLst/>
            </a:prstGeom>
          </p:spPr>
        </p:pic>
      </p:grpSp>
      <p:sp>
        <p:nvSpPr>
          <p:cNvPr id="24" name="TextBox 24"/>
          <p:cNvSpPr txBox="1"/>
          <p:nvPr/>
        </p:nvSpPr>
        <p:spPr>
          <a:xfrm>
            <a:off x="2312375" y="2268328"/>
            <a:ext cx="5482998" cy="569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59"/>
              </a:lnSpc>
            </a:pPr>
            <a:r>
              <a:rPr lang="en-US" sz="10533" spc="-105" dirty="0">
                <a:solidFill>
                  <a:srgbClr val="FFFFFF"/>
                </a:solidFill>
                <a:latin typeface="Graphik Regular" panose="020B0503030202060203" pitchFamily="34" charset="0"/>
              </a:rPr>
              <a:t>Reaction Data</a:t>
            </a:r>
          </a:p>
          <a:p>
            <a:pPr algn="ctr">
              <a:lnSpc>
                <a:spcPts val="11059"/>
              </a:lnSpc>
            </a:pPr>
            <a:r>
              <a:rPr lang="en-US" sz="10533" spc="-105" dirty="0">
                <a:solidFill>
                  <a:srgbClr val="FFFFFF"/>
                </a:solidFill>
                <a:latin typeface="Graphik Regular" panose="020B0503030202060203" pitchFamily="34" charset="0"/>
              </a:rPr>
              <a:t>Analysis</a:t>
            </a:r>
          </a:p>
          <a:p>
            <a:pPr algn="ctr">
              <a:lnSpc>
                <a:spcPts val="11059"/>
              </a:lnSpc>
            </a:pPr>
            <a:endParaRPr lang="en-US" sz="10533" spc="-105" dirty="0">
              <a:solidFill>
                <a:srgbClr val="FFFFFF"/>
              </a:solidFill>
              <a:latin typeface="Graphik Regular" panose="020B050303020206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7113" y="584601"/>
            <a:ext cx="17253775" cy="9117799"/>
            <a:chOff x="0" y="0"/>
            <a:chExt cx="23005033" cy="1215706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3155875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6311751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9467626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3155875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6311751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9467626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3155875"/>
              <a:ext cx="2891870" cy="2689439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6311751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9467626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3155875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6311751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9467626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3155875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6311751"/>
              <a:ext cx="2891870" cy="268943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9467626"/>
              <a:ext cx="2891870" cy="268943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3155875"/>
              <a:ext cx="2891870" cy="2689439"/>
            </a:xfrm>
            <a:prstGeom prst="rect">
              <a:avLst/>
            </a:prstGeom>
          </p:spPr>
        </p:pic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6311751"/>
              <a:ext cx="2891870" cy="2689439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9467626"/>
              <a:ext cx="2891870" cy="2689439"/>
            </a:xfrm>
            <a:prstGeom prst="rect">
              <a:avLst/>
            </a:prstGeom>
          </p:spPr>
        </p:pic>
        <p:pic>
          <p:nvPicPr>
            <p:cNvPr id="27" name="Picture 2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155875"/>
              <a:ext cx="2891870" cy="2689439"/>
            </a:xfrm>
            <a:prstGeom prst="rect">
              <a:avLst/>
            </a:prstGeom>
          </p:spPr>
        </p:pic>
        <p:pic>
          <p:nvPicPr>
            <p:cNvPr id="29" name="Picture 2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311751"/>
              <a:ext cx="2891870" cy="2689439"/>
            </a:xfrm>
            <a:prstGeom prst="rect">
              <a:avLst/>
            </a:prstGeom>
          </p:spPr>
        </p:pic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467626"/>
              <a:ext cx="2891870" cy="2689439"/>
            </a:xfrm>
            <a:prstGeom prst="rect">
              <a:avLst/>
            </a:prstGeom>
          </p:spPr>
        </p:pic>
      </p:grpSp>
      <p:sp>
        <p:nvSpPr>
          <p:cNvPr id="31" name="AutoShape 31"/>
          <p:cNvSpPr/>
          <p:nvPr/>
        </p:nvSpPr>
        <p:spPr>
          <a:xfrm>
            <a:off x="4946896" y="2005584"/>
            <a:ext cx="11342283" cy="6275832"/>
          </a:xfrm>
          <a:prstGeom prst="rect">
            <a:avLst/>
          </a:prstGeom>
          <a:solidFill>
            <a:schemeClr val="bg1"/>
          </a:solidFill>
        </p:spPr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21"/>
          <a:stretch>
            <a:fillRect/>
          </a:stretch>
        </p:blipFill>
        <p:spPr>
          <a:xfrm rot="10799999">
            <a:off x="1973209" y="1932974"/>
            <a:ext cx="6453903" cy="6467663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3045213" y="4293394"/>
            <a:ext cx="442238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1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INSIGHTS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649696-CCD1-4142-9F6B-92D5A8B6F4C5}"/>
              </a:ext>
            </a:extLst>
          </p:cNvPr>
          <p:cNvSpPr txBox="1"/>
          <p:nvPr/>
        </p:nvSpPr>
        <p:spPr>
          <a:xfrm>
            <a:off x="9446013" y="3619500"/>
            <a:ext cx="5031987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1" spc="-80" dirty="0">
                <a:solidFill>
                  <a:srgbClr val="A100FF"/>
                </a:solidFill>
                <a:latin typeface="Graphik Regular" panose="020B0503030202060203" pitchFamily="34" charset="0"/>
              </a:rPr>
              <a:t>16 Categories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6723" y="406153"/>
            <a:ext cx="9939843" cy="9474693"/>
            <a:chOff x="0" y="0"/>
            <a:chExt cx="13253124" cy="126329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16020" y="0"/>
              <a:ext cx="3005065" cy="279471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16020" y="9838214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832040" y="0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832040" y="9838214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0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3279405"/>
              <a:ext cx="3005065" cy="279471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6558809"/>
              <a:ext cx="3005065" cy="279471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9838214"/>
              <a:ext cx="3005065" cy="2794710"/>
            </a:xfrm>
            <a:prstGeom prst="rect">
              <a:avLst/>
            </a:prstGeom>
          </p:spPr>
        </p:pic>
      </p:grpSp>
      <p:sp>
        <p:nvSpPr>
          <p:cNvPr id="15" name="AutoShape 15"/>
          <p:cNvSpPr/>
          <p:nvPr/>
        </p:nvSpPr>
        <p:spPr>
          <a:xfrm>
            <a:off x="2110745" y="1825527"/>
            <a:ext cx="6750815" cy="663594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TextBox 31"/>
          <p:cNvSpPr txBox="1"/>
          <p:nvPr/>
        </p:nvSpPr>
        <p:spPr>
          <a:xfrm>
            <a:off x="2670508" y="3331799"/>
            <a:ext cx="5612273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INSIGHTS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D0D084-B63C-4F03-AC54-A6B9EDC032F9}"/>
              </a:ext>
            </a:extLst>
          </p:cNvPr>
          <p:cNvSpPr txBox="1"/>
          <p:nvPr/>
        </p:nvSpPr>
        <p:spPr>
          <a:xfrm>
            <a:off x="11658600" y="2171700"/>
            <a:ext cx="5334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b="1" dirty="0"/>
              <a:t>16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b="1" dirty="0"/>
              <a:t>Top categories are Animals, Science, Healthy eating, Technology and Food.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b="1" dirty="0"/>
              <a:t>January is the only months with most posts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32334F0-2A06-4D1B-A65E-B76CCCC9D36E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27100" cy="95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7100">
                  <a:extLst>
                    <a:ext uri="{9D8B030D-6E8A-4147-A177-3AD203B41FA5}">
                      <a16:colId xmlns:a16="http://schemas.microsoft.com/office/drawing/2014/main" val="50235988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Animals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91038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science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38972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healthy eating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74421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technology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43428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food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3164157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CBF57AC-28D4-458E-923F-2C6D1F23C7E3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27100" cy="95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7100">
                  <a:extLst>
                    <a:ext uri="{9D8B030D-6E8A-4147-A177-3AD203B41FA5}">
                      <a16:colId xmlns:a16="http://schemas.microsoft.com/office/drawing/2014/main" val="96409471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Animals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569119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science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28206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healthy eating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84030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technology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3449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food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07594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8195696"/>
            <a:ext cx="3545508" cy="3370302"/>
            <a:chOff x="0" y="0"/>
            <a:chExt cx="4727344" cy="4493736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sp>
        <p:nvSpPr>
          <p:cNvPr id="6" name="AutoShape 6"/>
          <p:cNvSpPr/>
          <p:nvPr/>
        </p:nvSpPr>
        <p:spPr>
          <a:xfrm>
            <a:off x="-4114800" y="0"/>
            <a:ext cx="14079282" cy="10287000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txBody>
          <a:bodyPr/>
          <a:lstStyle/>
          <a:p>
            <a:endParaRPr lang="en-AU" dirty="0"/>
          </a:p>
        </p:txBody>
      </p:sp>
      <p:grpSp>
        <p:nvGrpSpPr>
          <p:cNvPr id="16" name="Group 16"/>
          <p:cNvGrpSpPr/>
          <p:nvPr/>
        </p:nvGrpSpPr>
        <p:grpSpPr>
          <a:xfrm>
            <a:off x="15986267" y="-1061348"/>
            <a:ext cx="3545508" cy="3370302"/>
            <a:chOff x="0" y="0"/>
            <a:chExt cx="4727344" cy="4493736"/>
          </a:xfrm>
        </p:grpSpPr>
        <p:grpSp>
          <p:nvGrpSpPr>
            <p:cNvPr id="17" name="Group 17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6451EF5A-1BD7-4082-A30D-6317A4AFC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2838418"/>
              </p:ext>
            </p:extLst>
          </p:nvPr>
        </p:nvGraphicFramePr>
        <p:xfrm>
          <a:off x="-3505200" y="571500"/>
          <a:ext cx="13132254" cy="971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0B931915-986D-435D-A984-F278FA5FF056}"/>
              </a:ext>
            </a:extLst>
          </p:cNvPr>
          <p:cNvSpPr txBox="1"/>
          <p:nvPr/>
        </p:nvSpPr>
        <p:spPr>
          <a:xfrm>
            <a:off x="10744200" y="1333500"/>
            <a:ext cx="678180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/>
              <a:t>TOP 5 CATEGORIES BY AGGREGATE SCORES</a:t>
            </a:r>
          </a:p>
          <a:p>
            <a:endParaRPr lang="en-US" sz="8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BDEB3A28-BB74-4461-8616-620E07E215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6488212"/>
              </p:ext>
            </p:extLst>
          </p:nvPr>
        </p:nvGraphicFramePr>
        <p:xfrm>
          <a:off x="381000" y="-24245"/>
          <a:ext cx="11277600" cy="1002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640CEF9A-2DB1-41F6-A535-04E250E63C06}"/>
              </a:ext>
            </a:extLst>
          </p:cNvPr>
          <p:cNvSpPr txBox="1"/>
          <p:nvPr/>
        </p:nvSpPr>
        <p:spPr>
          <a:xfrm>
            <a:off x="11887200" y="2019300"/>
            <a:ext cx="5638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AGGREGATES PERCENTAGES SHARE FROM TOP 5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2" y="-1235382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7A550929-B0E2-4CA1-BE3F-0E7163870A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5724365"/>
              </p:ext>
            </p:extLst>
          </p:nvPr>
        </p:nvGraphicFramePr>
        <p:xfrm>
          <a:off x="2438400" y="1383831"/>
          <a:ext cx="14076846" cy="7663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453851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1" y="-710238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5F37357F-CD6D-41AA-8672-A6422ADBE7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4030329"/>
              </p:ext>
            </p:extLst>
          </p:nvPr>
        </p:nvGraphicFramePr>
        <p:xfrm>
          <a:off x="2743362" y="1306841"/>
          <a:ext cx="13771884" cy="7467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1" y="-710238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14F94BD9-9201-4A29-893F-FA435ECC93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401544"/>
              </p:ext>
            </p:extLst>
          </p:nvPr>
        </p:nvGraphicFramePr>
        <p:xfrm>
          <a:off x="2724117" y="1685151"/>
          <a:ext cx="13791130" cy="7427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762404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28428" y="3599225"/>
            <a:ext cx="3546595" cy="3371248"/>
            <a:chOff x="0" y="0"/>
            <a:chExt cx="4728794" cy="4494997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>
              <a:off x="782946" y="549149"/>
              <a:ext cx="3945848" cy="3945848"/>
              <a:chOff x="0" y="0"/>
              <a:chExt cx="6350000" cy="63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160550" y="152500"/>
              <a:ext cx="3945848" cy="3954260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5776371" y="4533900"/>
            <a:ext cx="572982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Thank you!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17113" y="-1140306"/>
            <a:ext cx="17253775" cy="2017079"/>
            <a:chOff x="0" y="0"/>
            <a:chExt cx="23005033" cy="2689439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517113" y="9394369"/>
            <a:ext cx="17253775" cy="2017079"/>
            <a:chOff x="0" y="0"/>
            <a:chExt cx="23005033" cy="2689439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103</Words>
  <Application>Microsoft Office PowerPoint</Application>
  <PresentationFormat>Custom</PresentationFormat>
  <Paragraphs>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Arial</vt:lpstr>
      <vt:lpstr>Graphik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creator>Kevin Dang</dc:creator>
  <cp:lastModifiedBy>Gbenga Adeosun</cp:lastModifiedBy>
  <cp:revision>19</cp:revision>
  <dcterms:created xsi:type="dcterms:W3CDTF">2006-08-16T00:00:00Z</dcterms:created>
  <dcterms:modified xsi:type="dcterms:W3CDTF">2025-04-02T09:49:47Z</dcterms:modified>
  <dc:identifier>DAEhDyfaYKE</dc:identifier>
</cp:coreProperties>
</file>